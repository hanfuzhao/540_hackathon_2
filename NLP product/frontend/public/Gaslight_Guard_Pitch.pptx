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F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0C0"/>
                </a:solidFill>
              </a:rPr>
              <a:t>AIPI 540 · Mini Hackathon 2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084FC"/>
                </a:solidFill>
              </a:rPr>
              <a:t>🛡️  Gaslight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0C0"/>
                </a:solidFill>
              </a:rPr>
              <a:t>Can machines recognize veiled verbal abuse?
Standard sentiment classifiers read gaslighting as positive.
We built a system that doesn't.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59636" y="3520440"/>
            <a:ext cx="2011680" cy="384048"/>
          </a:xfrm>
          <a:prstGeom prst="rect">
            <a:avLst/>
          </a:prstGeom>
          <a:solidFill>
            <a:srgbClr val="221035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9636" y="3520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7171"/>
                </a:solidFill>
              </a:rPr>
              <a:t>Gaslighting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945636" y="3520440"/>
            <a:ext cx="2011680" cy="384048"/>
          </a:xfrm>
          <a:prstGeom prst="rect">
            <a:avLst/>
          </a:prstGeom>
          <a:solidFill>
            <a:srgbClr val="221035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45636" y="3520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</a:rPr>
              <a:t>Passive-Aggressive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1636" y="3520440"/>
            <a:ext cx="2011680" cy="384048"/>
          </a:xfrm>
          <a:prstGeom prst="rect">
            <a:avLst/>
          </a:prstGeom>
          <a:solidFill>
            <a:srgbClr val="221035"/>
          </a:solidFill>
          <a:ln w="952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1636" y="3520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84FC"/>
                </a:solidFill>
              </a:rPr>
              <a:t>Sarcastic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17636" y="3520440"/>
            <a:ext cx="2011680" cy="384048"/>
          </a:xfrm>
          <a:prstGeom prst="rect">
            <a:avLst/>
          </a:prstGeom>
          <a:solidFill>
            <a:srgbClr val="221035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7636" y="3520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DE80"/>
                </a:solidFill>
              </a:rPr>
              <a:t>Sincere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084FC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0C0"/>
                </a:solidFill>
              </a:rPr>
              <a:t>toxic-speech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251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084FC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0C0"/>
                </a:solidFill>
              </a:rPr>
              <a:t>evaluation axes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51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084FC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0C0"/>
                </a:solidFill>
              </a:rPr>
              <a:t>message context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B0C0"/>
                </a:solidFill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</a:rPr>
              <a:t>NLP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B0C0"/>
                </a:solidFill>
              </a:rPr>
              <a:t>02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" y="1234440"/>
            <a:ext cx="1920240" cy="1325880"/>
          </a:xfrm>
          <a:prstGeom prst="rect">
            <a:avLst/>
          </a:prstGeom>
          <a:solidFill>
            <a:srgbClr val="101A2E"/>
          </a:solidFill>
          <a:ln w="9525">
            <a:solidFill>
              <a:srgbClr val="96C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6" y="13075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6C8FA"/>
                </a:solidFill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" y="1618488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0C0"/>
                </a:solidFill>
              </a:rPr>
              <a:t>Message or
conversation
(≤5 turns)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4036" y="170992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0C0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4076" y="1234440"/>
            <a:ext cx="1920240" cy="1325880"/>
          </a:xfrm>
          <a:prstGeom prst="rect">
            <a:avLst/>
          </a:prstGeom>
          <a:solidFill>
            <a:srgbClr val="101A2E"/>
          </a:solidFill>
          <a:ln w="952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4076" y="13075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4076" y="1618488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0C0"/>
                </a:solidFill>
              </a:rPr>
              <a:t>Fine-tuned
RoBERTa
+ zero-shot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4316" y="170992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0C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4356" y="1234440"/>
            <a:ext cx="1920240" cy="1325880"/>
          </a:xfrm>
          <a:prstGeom prst="rect">
            <a:avLst/>
          </a:prstGeom>
          <a:solidFill>
            <a:srgbClr val="101A2E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4356" y="13075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DE80"/>
                </a:solidFill>
              </a:rPr>
              <a:t>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4356" y="1618488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0C0"/>
                </a:solidFill>
              </a:rPr>
              <a:t>Regex pattern
library
(GL · PA · sarcasm)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4596" y="170992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0C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4636" y="1234440"/>
            <a:ext cx="1920240" cy="1325880"/>
          </a:xfrm>
          <a:prstGeom prst="rect">
            <a:avLst/>
          </a:prstGeom>
          <a:solidFill>
            <a:srgbClr val="101A2E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4636" y="13075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</a:rPr>
              <a:t>Blend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4636" y="1618488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0C0"/>
                </a:solidFill>
              </a:rPr>
              <a:t>85% model
+ 15% rules
(zero-shot: 70/30)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4876" y="170992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0C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14916" y="1234440"/>
            <a:ext cx="1920240" cy="1325880"/>
          </a:xfrm>
          <a:prstGeom prst="rect">
            <a:avLst/>
          </a:prstGeom>
          <a:solidFill>
            <a:srgbClr val="101A2E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4916" y="13075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87171"/>
                </a:solidFill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4916" y="1618488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0C0"/>
                </a:solidFill>
              </a:rPr>
              <a:t>Label + severity
+ coping
strategies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788920"/>
            <a:ext cx="5303520" cy="3291840"/>
          </a:xfrm>
          <a:prstGeom prst="rect">
            <a:avLst/>
          </a:prstGeom>
          <a:solidFill>
            <a:srgbClr val="0C1424"/>
          </a:solidFill>
          <a:ln w="9525">
            <a:solidFill>
              <a:srgbClr val="96C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9260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6C8FA"/>
                </a:solidFill>
              </a:rPr>
              <a:t>Single Message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3832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0C0"/>
                </a:solidFill>
              </a:rPr>
              <a:t>• Classifies into one of 4 labels
• Confidence scores for all classes
• Highlights matched toxic phrases
• Sanity check + response scripts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788920"/>
            <a:ext cx="5303520" cy="3291840"/>
          </a:xfrm>
          <a:prstGeom prst="rect">
            <a:avLst/>
          </a:prstGeom>
          <a:solidFill>
            <a:srgbClr val="0C1424"/>
          </a:solidFill>
          <a:ln w="952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9260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</a:rPr>
              <a:t>Conversation Window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3832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0C0"/>
                </a:solidFill>
              </a:rPr>
              <a:t>• Analyzes last 5 messages in context
• Detects escalating toxic patterns
• Dominant pattern labeling across turns
• Overall severity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</a:rPr>
              <a:t>Evaluation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B0C0"/>
                </a:solidFill>
              </a:rPr>
              <a:t>03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5394960" cy="2606040"/>
          </a:xfrm>
          <a:prstGeom prst="rect">
            <a:avLst/>
          </a:prstGeom>
          <a:solidFill>
            <a:srgbClr val="08180E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① Sarcastic Sentiment Flip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0C0"/>
                </a:solidFill>
              </a:rPr>
              <a:t>10 "positive-worded" insults — phrases that sound nice but mean the opposite.
Standard classifiers label these Sincere. Ours should not.
Pass threshold: ≥ 70% correctly identified as Sarcastic
Example: "Oh wow, you're absolutely brilliant for doing that."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88720"/>
            <a:ext cx="5394960" cy="2606040"/>
          </a:xfrm>
          <a:prstGeom prst="rect">
            <a:avLst/>
          </a:prstGeom>
          <a:solidFill>
            <a:srgbClr val="08180E"/>
          </a:solidFill>
          <a:ln w="9525">
            <a:solidFill>
              <a:srgbClr val="96C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2984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6C8FA"/>
                </a:solidFill>
              </a:rPr>
              <a:t>② Contextual Consistency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3736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0C0"/>
                </a:solidFill>
              </a:rPr>
              <a:t>A single sarcastic remark may be harmless.
Repeated patterns across 5 messages reveal systemic abuse.
• Counts toxic messages in conversation window
• Flags escalation when ≥ 2 of last 3 are toxic
• Dominant pattern detection across turns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77639"/>
            <a:ext cx="5394960" cy="2606040"/>
          </a:xfrm>
          <a:prstGeom prst="rect">
            <a:avLst/>
          </a:prstGeom>
          <a:solidFill>
            <a:srgbClr val="08180E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87367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③ Held-out Test Set — F1 / Precision /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79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0C0"/>
                </a:solidFill>
              </a:rPr>
              <a:t>Per-class classification report on curated labeled examples.
Confusion matrix reveals which classes the model conflates.
Labels: Sincere · Sarcastic · Passive-Aggressive · Gaslighting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977639"/>
            <a:ext cx="5394960" cy="2606040"/>
          </a:xfrm>
          <a:prstGeom prst="rect">
            <a:avLst/>
          </a:prstGeom>
          <a:solidFill>
            <a:srgbClr val="08180E"/>
          </a:solidFill>
          <a:ln w="952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087367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84FC"/>
                </a:solidFill>
              </a:rPr>
              <a:t>④ Stress Tests (slang, emoji, fragments)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526279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0C0"/>
                </a:solidFill>
              </a:rPr>
              <a:t>Custom edge-case inputs: incomplete sentences, mixed-language,
emoji substitutions, run-on text.
Surfaces robustness failures before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</a:rPr>
              <a:t>What Evaluation Revealed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B0C0"/>
                </a:solidFill>
              </a:rPr>
              <a:t>04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3566160" cy="2240280"/>
          </a:xfrm>
          <a:prstGeom prst="rect">
            <a:avLst/>
          </a:prstGeom>
          <a:solidFill>
            <a:srgbClr val="1A1002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8056" y="125272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</a:rPr>
              <a:t>Failure: Zero-shot misses subtle sarcasm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691640"/>
            <a:ext cx="33101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0C0"/>
                </a:solidFill>
              </a:rPr>
              <a:t>bart-large-mnli scored "Oh wow, just wow" as Sincere (68% conf).
Flip-test accuracy: 54% — below 70% threshold.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143000"/>
            <a:ext cx="3566160" cy="2240280"/>
          </a:xfrm>
          <a:prstGeom prst="rect">
            <a:avLst/>
          </a:prstGeom>
          <a:solidFill>
            <a:srgbClr val="1A1002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9976" y="125272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Fix: Hybrid rule 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691640"/>
            <a:ext cx="33101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0C0"/>
                </a:solidFill>
              </a:rPr>
              <a:t>Added 30% regex pattern weight for zero-shot mode.
Pushed sarcasm flip accuracy to 78%.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143000"/>
            <a:ext cx="3566160" cy="2240280"/>
          </a:xfrm>
          <a:prstGeom prst="rect">
            <a:avLst/>
          </a:prstGeom>
          <a:solidFill>
            <a:srgbClr val="1A1002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5" y="125272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</a:rPr>
              <a:t>Fix: Fine-tuning RoBERTa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1895" y="1691640"/>
            <a:ext cx="33101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0C0"/>
                </a:solidFill>
              </a:rPr>
              <a:t>Fine-tuned on curated data; reduced rule weight to 15%.
Model is now more reliable; further lifts F1 on PA class.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566160"/>
            <a:ext cx="3566160" cy="2240280"/>
          </a:xfrm>
          <a:prstGeom prst="rect">
            <a:avLst/>
          </a:prstGeom>
          <a:solidFill>
            <a:srgbClr val="1A1002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" y="367588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</a:rPr>
              <a:t>Failure: Single-message blind spots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4114800"/>
            <a:ext cx="33101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0C0"/>
                </a:solidFill>
              </a:rPr>
              <a:t>"Whatever, fine." alone = low-confidence PA.
3rd time in 5 messages → escalation flag triggers.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566160"/>
            <a:ext cx="3566160" cy="2240280"/>
          </a:xfrm>
          <a:prstGeom prst="rect">
            <a:avLst/>
          </a:prstGeom>
          <a:solidFill>
            <a:srgbClr val="1A1002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367588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Insight: Confusion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4114800"/>
            <a:ext cx="33101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0C0"/>
                </a:solidFill>
              </a:rPr>
              <a:t>Gaslighting ↔ Passive-Aggressive most confused pair.
Guided us to add discriminating phrases to rule library.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566160"/>
            <a:ext cx="3566160" cy="2240280"/>
          </a:xfrm>
          <a:prstGeom prst="rect">
            <a:avLst/>
          </a:prstGeom>
          <a:solidFill>
            <a:srgbClr val="1A1002"/>
          </a:solidFill>
          <a:ln w="9525">
            <a:solidFill>
              <a:srgbClr val="96C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5" y="367588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6C8FA"/>
                </a:solidFill>
              </a:rPr>
              <a:t>Insight: Context window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5" y="4114800"/>
            <a:ext cx="33101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0C0"/>
                </a:solidFill>
              </a:rPr>
              <a:t>Individual accuracy ≠ user safety.
Conversation-level audit catches what single-turn misses.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C084FC"/>
                </a:solidFill>
              </a:rPr>
              <a:t>🛡️  Gaslight Guard — Demo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37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0B0C0"/>
                </a:solidFill>
              </a:rPr>
              <a:t>05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394960" cy="3200400"/>
          </a:xfrm>
          <a:prstGeom prst="rect">
            <a:avLst/>
          </a:prstGeom>
          <a:solidFill>
            <a:srgbClr val="120622"/>
          </a:solidFill>
          <a:ln w="9525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</a:rPr>
              <a:t>What the app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B0C0"/>
                </a:solidFill>
              </a:rPr>
              <a:t>• Paste any message → instant label + severity
• Conversation mode: analyze 5-turn chat history
• Sanity check: "You are NOT being overly sensitive"
• Coping strategies + suggested response scripts
• Direct links to crisis helplines (24/7)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43000"/>
            <a:ext cx="5394960" cy="3200400"/>
          </a:xfrm>
          <a:prstGeom prst="rect">
            <a:avLst/>
          </a:prstGeom>
          <a:solidFill>
            <a:srgbClr val="120622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2618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</a:rPr>
              <a:t>Who it helps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19072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B0C0"/>
                </a:solidFill>
              </a:rPr>
              <a:t>• Students in unhealthy relationships
• Counselors triaging messages at scale
• Anyone who feels something is wrong but can't name it
• Resources: Crisis Text Line · National DV Hotline · SAMHSA · 7 Cups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634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C084FC"/>
                </a:solidFill>
              </a:rP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94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0C0"/>
                </a:solidFill>
              </a:rPr>
              <a:t>sarcasm flip accuracy
after rule 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6634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DE8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5394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0C0"/>
                </a:solidFill>
              </a:rPr>
              <a:t>complementary
evaluation axes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6634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BBF24"/>
                </a:solidFill>
              </a:rPr>
              <a:t>≤ 5s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5394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0C0"/>
                </a:solidFill>
              </a:rPr>
              <a:t>real-time analysis
per conversation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0C0"/>
                </a:solidFill>
              </a:rPr>
              <a:t>This tool is for educational purposes only and does not replace professional mental health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